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80" kern="0" dirty="0">
                <a:solidFill>
                  <a:srgbClr val="00C2E0"/>
                </a:solidFill>
              </a:rPr>
              <a:t>INVESTMENT BANKING ACADEMY  ·  M&amp;A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Microsoft Acquires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Activision Blizzard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" y="2633472"/>
            <a:ext cx="914400" cy="5029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72491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BF5"/>
                </a:solidFill>
              </a:rPr>
              <a:t>$68.7B All-Cash · Announced Jan 2022 · Closed Oct 2023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" y="309067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The largest acquisition in Microsoft history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and the most scrutinized deal in gaming's history.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566928"/>
            <a:ext cx="2606040" cy="4114800"/>
          </a:xfrm>
          <a:prstGeom prst="rect">
            <a:avLst/>
          </a:prstGeom>
          <a:solidFill>
            <a:srgbClr val="0F2D52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749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$68.7B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82512" y="10789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Deal Value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0" y="1316736"/>
            <a:ext cx="2331720" cy="0"/>
          </a:xfrm>
          <a:prstGeom prst="line">
            <a:avLst/>
          </a:prstGeom>
          <a:noFill/>
          <a:ln w="635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389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45%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82512" y="17190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Acquisition Premium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956816"/>
            <a:ext cx="2331720" cy="0"/>
          </a:xfrm>
          <a:prstGeom prst="line">
            <a:avLst/>
          </a:prstGeom>
          <a:noFill/>
          <a:ln w="635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0299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20.2x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82512" y="23591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EV / EBITDA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0" y="2596896"/>
            <a:ext cx="2331720" cy="0"/>
          </a:xfrm>
          <a:prstGeom prst="line">
            <a:avLst/>
          </a:prstGeom>
          <a:noFill/>
          <a:ln w="635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670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$95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82512" y="29992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Price Per Share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3236976"/>
            <a:ext cx="2331720" cy="0"/>
          </a:xfrm>
          <a:prstGeom prst="line">
            <a:avLst/>
          </a:prstGeom>
          <a:noFill/>
          <a:ln w="635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310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21mo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82512" y="36393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Regulatory Timeline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0" y="3877056"/>
            <a:ext cx="2331720" cy="0"/>
          </a:xfrm>
          <a:prstGeom prst="line">
            <a:avLst/>
          </a:prstGeom>
          <a:noFill/>
          <a:ln w="635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C2E0"/>
                </a:solidFill>
              </a:rPr>
              <a:t>#3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82512" y="42793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Global Gaming Rank (Post-Close)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– Prepared for Educational Purposes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DEAL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886200" cy="2999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3886200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E0"/>
                </a:solidFill>
              </a:rPr>
              <a:t>ACQUIRER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</a:rPr>
              <a:t>Microsoft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8A"/>
                </a:solidFill>
              </a:rPr>
              <a:t>NASDAQ: MSFT  ·  Technology / Cloud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12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FY2021 Revenue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$168B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Market Cap (Jan '22)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2441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$2.27T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Cash on Balance Sheet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5740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$130B+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099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5740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Satya Nadella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Primary Motive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Content + Cloud Scale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06824" y="1920240"/>
            <a:ext cx="804672" cy="47548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92024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ACQUIRES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$95/sh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257800" y="868680"/>
            <a:ext cx="3886200" cy="2999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868680"/>
            <a:ext cx="3886200" cy="5943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987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E0"/>
                </a:solidFill>
              </a:rPr>
              <a:t>TARGET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12161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Activision Blizzard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40680" y="1764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4F8A"/>
                </a:solidFill>
              </a:rPr>
              <a:t>NASDAQ: ATVI  ·  Video Game Publisher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2112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FY2021 Revenue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0" y="2112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$8.8B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40680" y="2441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Market Cap (Jan '22)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40880" y="2441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$61.5B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4068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Active Users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400M+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40680" y="3099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4088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Bobby Kotick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 IP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4088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CoD · WoW · Diablo · Candy Crush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041648"/>
            <a:ext cx="20116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2E0"/>
                </a:solidFill>
              </a:rPr>
              <a:t>ANNOUNCED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Jan 18, 2022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450592" y="4041648"/>
            <a:ext cx="20116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50592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2E0"/>
                </a:solidFill>
              </a:rPr>
              <a:t>CLOSED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50592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Oct 13, 2023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626864" y="4041648"/>
            <a:ext cx="20116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26864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2E0"/>
                </a:solidFill>
              </a:rPr>
              <a:t>STRUCTURE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26864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100% All-Cash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803136" y="4041648"/>
            <a:ext cx="201168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2E0"/>
                </a:solidFill>
              </a:rPr>
              <a:t>TOTAL CONSIDERATION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803136" y="43342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$75B incl. net cash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RATIONALE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WHY MICROSOFT NEEDED THIS DEAL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93776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50292" cy="76809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7957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The Subscription War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Netflix-for-games was Microsoft's long-term bet. Game Pass had 25M subscribers at announcement — but needed tentpole franchises to convert the next 100M. Call of Duty alone drove 3B+ in annual revenue for Activision, representing ~1/3 of its total sales.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93776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93392"/>
            <a:ext cx="50292" cy="76809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057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Platform Convergence &amp; Cloud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" y="2322576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Xbox Cloud Gaming needed AAA content to compete credibly with Sony, Apple Arcade, and Tencent. Activision's mobile division (King, maker of Candy Crush) added 250M+ mobile DAUs — a market where Xbox had virtually no footprint.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93776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" cy="76809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352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Content Scarcity in a Consolidating Market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3200400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Take-Two acquired Zynga for $12.7B just days before. EA, Sony, and Tencent were all acquiring studios. Microsoft faced content scarcity risk as the industry consolidated around a handful of mega-publishers.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4937760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49040"/>
            <a:ext cx="50292" cy="76809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81304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Metaverse &amp; Next-Gen Infrastructure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407822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Satya Nadella explicitly cited Activision as the 'building blocks for the metaverse.' Online multiplayer ecosystems — CoD, WoW, Overwatch — offered Microsoft a ready-made social graph of 400M users.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841248"/>
            <a:ext cx="3429000" cy="400507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128" y="9326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WHY ACTIVISION AGREED TO SELL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96128" y="1188720"/>
            <a:ext cx="3090672" cy="0"/>
          </a:xfrm>
          <a:prstGeom prst="line">
            <a:avLst/>
          </a:prstGeom>
          <a:noFill/>
          <a:ln w="10160">
            <a:solidFill>
              <a:srgbClr val="00C2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1335024"/>
            <a:ext cx="164592" cy="16459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28016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Stock Down ~30% from 2021 Peak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52160" y="151790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Workplace misconduct investigations (DFEH lawsuit, 2021) had hammered the stock. Activists and institutional investors were restless.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96128" y="1865376"/>
            <a:ext cx="164592" cy="16459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81051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45% Premium = Shareholder Value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0" y="204825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$95/share was a compelling exit for investors who had seen ATVI trade as low as $56. Deal represented ~$25B+ in value creation for shareholders.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96128" y="2395728"/>
            <a:ext cx="164592" cy="16459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234086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Microsoft's Balance Sheet as Shelter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52160" y="257860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With $130B+ in cash, Microsoft could fund the deal entirely without debt — providing Activision with a well-capitalized parent for game development.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96128" y="2926080"/>
            <a:ext cx="164592" cy="16459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871216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Bobby Kotick's Exit Path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31089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Kotick faced mounting board pressure and media scrutiny. The acquisition provided a graceful leadership transition and a legal shield for outstanding litigation.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96128" y="3456432"/>
            <a:ext cx="164592" cy="164592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40156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Industry Scale Requirements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52160" y="36393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Building competitive cloud and mobile infrastructure independently would cost billions. Merging with Microsoft accelerated the roadmap by years.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9144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$68.7B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159105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$75B incl. ATVI net cash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822960"/>
            <a:ext cx="20116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9144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Price Per Share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1155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$95.00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159105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vs. $65.39 pre-announcement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20116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6592" y="9144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 Premium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1155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45.3%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36592" y="159105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Well above 30-35% M&amp;A avg.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03136" y="822960"/>
            <a:ext cx="201168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12864" y="9144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 / EBITDA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12864" y="111556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20.2x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12864" y="159105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2E0"/>
                </a:solidFill>
              </a:rPr>
              <a:t>On FY2021 adj. EBITDA of $3.4B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19933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EV/EBITDA vs. COMPARABLE GAMING TRANSACTIONS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4663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646170"/>
            <a:ext cx="466344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-73152" y="353644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7x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3177540"/>
            <a:ext cx="466344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-73152" y="30678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14x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2708910"/>
            <a:ext cx="466344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-73152" y="259918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21x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2240280"/>
            <a:ext cx="466344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-73152" y="21305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28x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2940" y="2762468"/>
            <a:ext cx="466344" cy="13523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" y="2524724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20.2x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" y="4151376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MSFT/ATVI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517904" y="2708910"/>
            <a:ext cx="466344" cy="140589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72184" y="2471166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21x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80744" y="4151376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Industry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Median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372868" y="2742384"/>
            <a:ext cx="466344" cy="13724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7148" y="2504640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20.5x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35708" y="4151376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ZeniMax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(2021)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227832" y="2862888"/>
            <a:ext cx="466344" cy="1251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82112" y="2625144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18.7x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90672" y="4151376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EA/Code-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masters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082796" y="2508069"/>
            <a:ext cx="466344" cy="1606731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37076" y="2270325"/>
            <a:ext cx="557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24x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45636" y="4151376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Take-Two/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Zynga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66360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ACTIVISION BLIZZARD — PRE-DEAL FINANCIALS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2240280"/>
          <a:ext cx="3703320" cy="265176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Net 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$8.80B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Adjusted EBITDA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$3.41B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EBITDA Margin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Non-GAAP EPS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$4.08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Monthly Active Users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400M+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 Revenue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Employees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~9,800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" name="Shape 46"/>
          <p:cNvSpPr/>
          <p:nvPr/>
        </p:nvSpPr>
        <p:spPr>
          <a:xfrm>
            <a:off x="5166360" y="4956048"/>
            <a:ext cx="370332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166360" y="496519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6EBF5"/>
                </a:solidFill>
              </a:rPr>
              <a:t>Deal fully funded by Microsoft's cash — no debt raised. EPS accretion ~$0.26 projected at close.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REGULATORY GAUNTLET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</a:rPr>
              <a:t>This deal faced the most complex multinational antitrust review in gaming history — 3 jurisdictions, 21 months, and a structural remedy that reshaped the cloud gaming market.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85953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395728"/>
            <a:ext cx="182880" cy="182880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322576"/>
            <a:ext cx="0" cy="-347472"/>
          </a:xfrm>
          <a:prstGeom prst="line">
            <a:avLst/>
          </a:prstGeom>
          <a:noFill/>
          <a:ln w="12700">
            <a:solidFill>
              <a:srgbClr val="00C2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182880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Jan 18, 2022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-228600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E0"/>
                </a:solidFill>
              </a:rPr>
              <a:t>Deal Announced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-320040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$95/sh, all-cash. ATVI +38% on open.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410789" y="239572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2229" y="2578608"/>
            <a:ext cx="0" cy="34747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5029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Dec 8, 2022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99309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FTC Files Suit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07869" y="3419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U.S. regulator seeks to block on console/subscription grounds.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638697" y="239572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0137" y="2322576"/>
            <a:ext cx="0" cy="-3474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72937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May 15, 2023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27217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EU Approves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35777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EC cleared after 10-yr Call of Duty access commitments.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3866606" y="239572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58046" y="2578608"/>
            <a:ext cx="0" cy="347472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0846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Apr 26, 2023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55126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UK CMA Blocks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63686" y="3419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CMA initially blocks citing cloud gaming dominance.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094514" y="239572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5954" y="2322576"/>
            <a:ext cx="0" cy="-3474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8754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Jul 11, 2023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83034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FTC Injunction Denied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91594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Federal judge rejects FTC attempt to halt deal.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322423" y="239572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3863" y="2578608"/>
            <a:ext cx="0" cy="347472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56663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Aug 2023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10943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Cloud Rights → Ubisoft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19503" y="3419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Microsoft divests Activision cloud-streaming rights to Ubisoft for 15 yrs.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7550331" y="2395728"/>
            <a:ext cx="182880" cy="182880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1771" y="2322576"/>
            <a:ext cx="0" cy="-347472"/>
          </a:xfrm>
          <a:prstGeom prst="line">
            <a:avLst/>
          </a:prstGeom>
          <a:noFill/>
          <a:ln w="12700">
            <a:solidFill>
              <a:srgbClr val="00C2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4571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Oct 13, 2023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38851" y="1664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E0"/>
                </a:solidFill>
              </a:rPr>
              <a:t>Deal Closes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47411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CMA reverses; deal closes after 21 months.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8778240" y="239572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2578608"/>
            <a:ext cx="0" cy="347472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May 2025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366760" y="3145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FTC Drops Case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75320" y="3419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E293B"/>
                </a:solidFill>
              </a:rPr>
              <a:t>9th Circuit denies final FTC appeal. Case closed.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274320" y="36118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KEY CONCESSIONS MADE TO WIN APPROVAL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3858768"/>
            <a:ext cx="202996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136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Sony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65760" y="4151376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BF5"/>
                </a:solidFill>
              </a:rPr>
              <a:t>10-year binding agreement: Call of Duty remains on PlayStation at feature/content parity with Xbox.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468880" y="3858768"/>
            <a:ext cx="202996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39136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Nintendo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560320" y="4151376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BF5"/>
                </a:solidFill>
              </a:rPr>
              <a:t>10-year deal to bring Call of Duty to Nintendo platforms — first time CoD on Nintendo hardware.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63440" y="3858768"/>
            <a:ext cx="202996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9136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Ubisoft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754880" y="4151376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BF5"/>
                </a:solidFill>
              </a:rPr>
              <a:t>15-year divestiture of Activision's cloud-streaming rights to Ubisoft to satisfy UK CMA.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0" y="3858768"/>
            <a:ext cx="202996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9136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E0"/>
                </a:solidFill>
              </a:rPr>
              <a:t>Nvidia/Steam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949440" y="4151376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BF5"/>
                </a:solidFill>
              </a:rPr>
              <a:t>10-year access agreements for GeForce Now and Steam ensuring multi-platform availability.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 REACTION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3456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4114800" cy="594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ATVI – Target Stock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90982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" y="28000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$60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249326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" y="23835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$70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207670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" y="196697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$80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11480" y="166014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" y="15504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$90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655978"/>
            <a:ext cx="768096" cy="1462126"/>
          </a:xfrm>
          <a:prstGeom prst="rect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9576" y="1655978"/>
            <a:ext cx="768096" cy="1462126"/>
          </a:xfrm>
          <a:prstGeom prst="rect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7672" y="1764284"/>
            <a:ext cx="768096" cy="1353820"/>
          </a:xfrm>
          <a:prstGeom prst="rect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1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15768" y="1993392"/>
            <a:ext cx="768096" cy="1124712"/>
          </a:xfrm>
          <a:prstGeom prst="rect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1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3864" y="1460195"/>
            <a:ext cx="768096" cy="1657909"/>
          </a:xfrm>
          <a:prstGeom prst="rect">
            <a:avLst/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685298"/>
            <a:ext cx="768096" cy="-1029320"/>
          </a:xfrm>
          <a:prstGeom prst="line">
            <a:avLst/>
          </a:prstGeom>
          <a:noFill/>
          <a:ln w="3556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9576" y="1655978"/>
            <a:ext cx="768096" cy="108306"/>
          </a:xfrm>
          <a:prstGeom prst="line">
            <a:avLst/>
          </a:prstGeom>
          <a:noFill/>
          <a:ln w="3556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7672" y="1764284"/>
            <a:ext cx="768096" cy="229108"/>
          </a:xfrm>
          <a:prstGeom prst="line">
            <a:avLst/>
          </a:prstGeom>
          <a:noFill/>
          <a:ln w="3556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15768" y="1993392"/>
            <a:ext cx="768096" cy="249936"/>
          </a:xfrm>
          <a:prstGeom prst="line">
            <a:avLst/>
          </a:prstGeom>
          <a:noFill/>
          <a:ln w="3556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3864" y="2243328"/>
            <a:ext cx="768096" cy="-783133"/>
          </a:xfrm>
          <a:prstGeom prst="line">
            <a:avLst/>
          </a:prstGeom>
          <a:noFill/>
          <a:ln w="3556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" y="262586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0140" y="159654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88236" y="170484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6332" y="193395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4428" y="21838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92524" y="1400759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905256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Announce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673352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+1wk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441448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+1mo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209544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During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Review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97764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Close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Oct'23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179576" y="1363370"/>
            <a:ext cx="0" cy="237744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118049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+37.8%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+37.8% on announcement day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483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ATVI traded at a ~$12-20 discount to deal price for 21 months, pricing 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regulatory risk. Risk arb funds earned ~18-25% annualised returns.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804672"/>
            <a:ext cx="4114800" cy="34564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804672"/>
            <a:ext cx="4114800" cy="594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886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MSFT – Acquirer Stock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92040" y="280568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44568" y="269595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$260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92040" y="249326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4568" y="23835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$280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892040" y="218084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44568" y="20711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$300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892040" y="186842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44568" y="17586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$320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892040" y="1556004"/>
            <a:ext cx="3840480" cy="0"/>
          </a:xfrm>
          <a:prstGeom prst="line">
            <a:avLst/>
          </a:prstGeom>
          <a:noFill/>
          <a:ln w="6350">
            <a:solidFill>
              <a:srgbClr val="E8EF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44568" y="144627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$340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892040" y="2138667"/>
            <a:ext cx="768096" cy="979437"/>
          </a:xfrm>
          <a:prstGeom prst="rect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>
                <a:alpha val="16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0136" y="2258949"/>
            <a:ext cx="768096" cy="859155"/>
          </a:xfrm>
          <a:prstGeom prst="rect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>
                <a:alpha val="16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28232" y="2337054"/>
            <a:ext cx="768096" cy="781050"/>
          </a:xfrm>
          <a:prstGeom prst="rect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>
                <a:alpha val="16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96328" y="2399538"/>
            <a:ext cx="768096" cy="718566"/>
          </a:xfrm>
          <a:prstGeom prst="rect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>
                <a:alpha val="16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964424" y="1680972"/>
            <a:ext cx="768096" cy="1437132"/>
          </a:xfrm>
          <a:prstGeom prst="rect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>
                <a:alpha val="16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2138667"/>
            <a:ext cx="768096" cy="120282"/>
          </a:xfrm>
          <a:prstGeom prst="line">
            <a:avLst/>
          </a:prstGeom>
          <a:noFill/>
          <a:ln w="35560">
            <a:solidFill>
              <a:srgbClr val="1B4F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660136" y="2258949"/>
            <a:ext cx="768096" cy="78105"/>
          </a:xfrm>
          <a:prstGeom prst="line">
            <a:avLst/>
          </a:prstGeom>
          <a:noFill/>
          <a:ln w="35560">
            <a:solidFill>
              <a:srgbClr val="1B4F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28232" y="2337054"/>
            <a:ext cx="768096" cy="62484"/>
          </a:xfrm>
          <a:prstGeom prst="line">
            <a:avLst/>
          </a:prstGeom>
          <a:noFill/>
          <a:ln w="35560">
            <a:solidFill>
              <a:srgbClr val="1B4F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96328" y="2399538"/>
            <a:ext cx="768096" cy="249936"/>
          </a:xfrm>
          <a:prstGeom prst="line">
            <a:avLst/>
          </a:prstGeom>
          <a:noFill/>
          <a:ln w="35560">
            <a:solidFill>
              <a:srgbClr val="1B4F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64424" y="2649474"/>
            <a:ext cx="768096" cy="-968502"/>
          </a:xfrm>
          <a:prstGeom prst="line">
            <a:avLst/>
          </a:prstGeom>
          <a:noFill/>
          <a:ln w="35560">
            <a:solidFill>
              <a:srgbClr val="1B4F8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32604" y="2079231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00700" y="2199513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68796" y="2277618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6892" y="2340102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04988" y="2590038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73084" y="1621536"/>
            <a:ext cx="118872" cy="11887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Pre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385816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Announce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153912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+1wk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922008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+1mo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7690104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+6mo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45820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Close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Oct'23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5660136" y="2295525"/>
            <a:ext cx="0" cy="22860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40680" y="2505837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-2.4%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93776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-2.4% on announcement day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937760" y="3483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Classic acquirer dip — market questioned the $69B price tag. MSFT surged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past $330 post-close as gaming revenue grew 39-61% YoY.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74320" y="4352544"/>
            <a:ext cx="859536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4416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C2E0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554480" y="440740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BF5"/>
                </a:solidFill>
              </a:rPr>
              <a:t>The deal created a ~$20 risk arb spread that persisted for 21 months, reflecting genuine regulatory uncertainty. Sophisticated arb funds that held ATVI through close earned outsized returns — a textbook example of M&amp;A arbitrage opportunity.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132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CHALLENGES &amp; OUTCOME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E0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INTEGRATION CHALLENGES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60704"/>
            <a:ext cx="42062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60704"/>
            <a:ext cx="50292" cy="7863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1155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FTC Litigation (Dec 2022 – May 2025)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1380744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The FTC pursued the case for 2.5 years across district and appellate courts. Even after close, the agency challenged post-merger layoffs and Game Pass price hikes as inconsistent with pre-merger assurances. The 9th Circuit denied the final appeal in May 2025.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2062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56816"/>
            <a:ext cx="50292" cy="7863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0116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1,900 Layoffs (Jan 2024)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" y="2276856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Microsoft cut ~8% of its gaming workforce in the first 90 days post-close, primarily from Activision overlap roles. The FTC cited this as evidence Microsoft had misled courts about operational independence.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42062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52928"/>
            <a:ext cx="50292" cy="7863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90779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Studio Cancellations &amp; Culture Clash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" y="3172968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Multiple in-development titles were cancelled. Blizzard president Mike Ybarra and CDO Allen Adham departed Jan 2024. The cultural integration of a company infamous for workplace controversy remained an ongoing reputational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749040"/>
            <a:ext cx="42062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49040"/>
            <a:ext cx="50292" cy="7863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80390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Game Pass Structural Challenges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" y="4069080"/>
            <a:ext cx="3895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Organic subscriber growth was essentially flat without Activision's boost. Microsoft's internal target of 100M Game Pass subscribers by 2030 looks increasingly ambitious given the 34–37M subscriber ceiling.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8046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00C2E0"/>
                </a:solidFill>
              </a:rPr>
              <a:t>POST-CLOSE PERFORMANCE (FY2024)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06070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0972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39%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88736" y="115214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Total gaming revenue growth, FY2024 (+$6B YoY)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70078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737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50%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88736" y="179222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Xbox content &amp; services revenue growth, FY2024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34086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</a:rPr>
              <a:t>500M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88736" y="243230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Monthly active users across all platforms post-close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98094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017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E0"/>
                </a:solidFill>
              </a:rPr>
              <a:t>$18.6B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88736" y="307238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Content &amp; services revenue (87% of gaming mix)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62102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657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34M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88736" y="371246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Game Pass subscribers (Feb 2024 — up 36% since '22)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261104"/>
            <a:ext cx="416052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4297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-$1.4B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88736" y="4352544"/>
            <a:ext cx="2852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Activision operating loss in first full year (integration costs)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4846320"/>
            <a:ext cx="4160520" cy="29260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8463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Verdict: Revenue accretive. Margins under pressure. Integration ongoing.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92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C2E0"/>
                </a:solidFill>
              </a:rPr>
              <a:t>CONCLUSION &amp; INVESTMENT TAKEAWAYS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Microsoft paid a fair price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for an unfair advantage.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8412480" cy="0"/>
          </a:xfrm>
          <a:prstGeom prst="line">
            <a:avLst/>
          </a:prstGeom>
          <a:noFill/>
          <a:ln w="10160">
            <a:solidFill>
              <a:srgbClr val="1B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029968"/>
            <a:ext cx="4206240" cy="1170432"/>
          </a:xfrm>
          <a:prstGeom prst="rect">
            <a:avLst/>
          </a:prstGeom>
          <a:solidFill>
            <a:srgbClr val="0F2D52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12140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E0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Content is the new infrastructure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241401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In a platform economy, owning tentpole IP is equivalent to owning rails. Microsoft didn't buy a game company — it bought recurring engagement at scale.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4206240" cy="1170432"/>
          </a:xfrm>
          <a:prstGeom prst="rect">
            <a:avLst/>
          </a:prstGeom>
          <a:solidFill>
            <a:srgbClr val="0F2D52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3832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E0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Regulatory risk is now a valuation 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367588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The 21-month delay cost Microsoft opportunity and compressed deal IRR. Modern M&amp;A practitioners must model regulatory timelines and concession costs as base-case assumptions.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2312" y="2029968"/>
            <a:ext cx="4206240" cy="1170432"/>
          </a:xfrm>
          <a:prstGeom prst="rect">
            <a:avLst/>
          </a:prstGeom>
          <a:solidFill>
            <a:srgbClr val="0F2D52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2140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E0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22392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acquirer dip was a buying opportunity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2392" y="241401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MSFT fell ~2.4% on announcement and lagged for 18+ months. Post-close, gaming revenue grew 39-61% YoY. Investors who added on the dip were rewarded.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82312" y="3291840"/>
            <a:ext cx="4206240" cy="1170432"/>
          </a:xfrm>
          <a:prstGeom prst="rect">
            <a:avLst/>
          </a:prstGeom>
          <a:solidFill>
            <a:srgbClr val="0F2D52"/>
          </a:solidFill>
          <a:ln w="1016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8328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E0"/>
                </a:solidFill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22392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Revenue ≠ profitability (yet)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2392" y="367588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BF5"/>
                </a:solidFill>
              </a:rPr>
              <a:t>Activision generated an operating loss of ~$1.4B in its first year under Microsoft. Integration costs, restructuring, and studio overhead make the profitability case a 3-5 year thesis, not an immediate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5546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Microsoft Corp. (MSFT) · Activision Blizzard (ATVI) · M&amp;A Analysis · Investment Banking Academy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x Activision Blizzard – M&amp;A Deep Dive</dc:title>
  <dc:subject>PptxGenJS Presentation</dc:subject>
  <dc:creator>PptxGenJS</dc:creator>
  <cp:lastModifiedBy>PptxGenJS</cp:lastModifiedBy>
  <cp:revision>1</cp:revision>
  <dcterms:created xsi:type="dcterms:W3CDTF">2026-04-09T23:03:58Z</dcterms:created>
  <dcterms:modified xsi:type="dcterms:W3CDTF">2026-04-09T23:03:58Z</dcterms:modified>
</cp:coreProperties>
</file>